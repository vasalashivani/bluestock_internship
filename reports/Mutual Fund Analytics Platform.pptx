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Outfit ExtraBold"/>
      <p:bold r:id="rId19"/>
    </p:embeddedFont>
    <p:embeddedFont>
      <p:font typeface="Outfit"/>
      <p:regular r:id="rId20"/>
      <p:bold r:id="rId21"/>
    </p:embeddedFont>
    <p:embeddedFont>
      <p:font typeface="DM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EB4C8B4-150B-4DE0-B70B-A4957603A9CC}">
  <a:tblStyle styleId="{2EB4C8B4-150B-4DE0-B70B-A4957603A9C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utfit-regular.fntdata"/><Relationship Id="rId22" Type="http://schemas.openxmlformats.org/officeDocument/2006/relationships/font" Target="fonts/DMSans-regular.fntdata"/><Relationship Id="rId21" Type="http://schemas.openxmlformats.org/officeDocument/2006/relationships/font" Target="fonts/Outfit-bold.fntdata"/><Relationship Id="rId24" Type="http://schemas.openxmlformats.org/officeDocument/2006/relationships/font" Target="fonts/DMSans-italic.fntdata"/><Relationship Id="rId23" Type="http://schemas.openxmlformats.org/officeDocument/2006/relationships/font" Target="fonts/DM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DM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OutfitExtraBold-bold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4.png"/><Relationship Id="rId6" Type="http://schemas.openxmlformats.org/officeDocument/2006/relationships/image" Target="../media/image2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10" Type="http://schemas.openxmlformats.org/officeDocument/2006/relationships/image" Target="../media/image18.png"/><Relationship Id="rId9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7.png"/><Relationship Id="rId7" Type="http://schemas.openxmlformats.org/officeDocument/2006/relationships/image" Target="../media/image12.png"/><Relationship Id="rId8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9" Type="http://schemas.openxmlformats.org/officeDocument/2006/relationships/image" Target="../media/image30.png"/><Relationship Id="rId5" Type="http://schemas.openxmlformats.org/officeDocument/2006/relationships/image" Target="../media/image32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26.png"/><Relationship Id="rId5" Type="http://schemas.openxmlformats.org/officeDocument/2006/relationships/image" Target="../media/image35.png"/><Relationship Id="rId6" Type="http://schemas.openxmlformats.org/officeDocument/2006/relationships/image" Target="../media/image34.png"/><Relationship Id="rId7" Type="http://schemas.openxmlformats.org/officeDocument/2006/relationships/image" Target="../media/image28.png"/><Relationship Id="rId8" Type="http://schemas.openxmlformats.org/officeDocument/2006/relationships/image" Target="../media/image3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33.png"/><Relationship Id="rId5" Type="http://schemas.openxmlformats.org/officeDocument/2006/relationships/image" Target="../media/image31.png"/><Relationship Id="rId6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9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62900" y="4599112"/>
            <a:ext cx="5715000" cy="6810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71500"/>
            <a:ext cx="11049000" cy="239762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571500" y="1525953"/>
            <a:ext cx="11049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781F"/>
                </a:solidFill>
                <a:latin typeface="DM Sans"/>
                <a:ea typeface="DM Sans"/>
                <a:cs typeface="DM Sans"/>
                <a:sym typeface="DM Sans"/>
              </a:rPr>
              <a:t>CAPSTONE PROJECT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65400" y="2136531"/>
            <a:ext cx="11601600" cy="15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2D1606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Mutual Fund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4800" u="none" cap="none" strike="noStrike">
                <a:solidFill>
                  <a:srgbClr val="FF781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Analytics Platform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857750" y="4119077"/>
            <a:ext cx="8616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70625A"/>
                </a:solidFill>
                <a:latin typeface="DM Sans"/>
                <a:ea typeface="DM Sans"/>
                <a:cs typeface="DM Sans"/>
                <a:sym typeface="DM Sans"/>
              </a:rPr>
              <a:t>PRESENTED BY:  VASALA SHIVANI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9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09925"/>
            <a:ext cx="5334000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3209925"/>
            <a:ext cx="5334000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71500"/>
            <a:ext cx="11049000" cy="18954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914400" y="3552825"/>
            <a:ext cx="488061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781F"/>
                </a:solidFill>
                <a:latin typeface="Outfit"/>
                <a:ea typeface="Outfit"/>
                <a:cs typeface="Outfit"/>
                <a:sym typeface="Outfit"/>
              </a:rPr>
              <a:t>The Challenges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14400" y="4057650"/>
            <a:ext cx="46482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D312A"/>
                </a:solidFill>
                <a:latin typeface="DM Sans"/>
                <a:ea typeface="DM Sans"/>
                <a:cs typeface="DM Sans"/>
                <a:sym typeface="DM Sans"/>
              </a:rPr>
              <a:t>Fragmentation:</a:t>
            </a:r>
            <a:r>
              <a:rPr b="0" i="0" lang="en-US" sz="1350" u="none" cap="none" strike="noStrike">
                <a:solidFill>
                  <a:srgbClr val="3D312A"/>
                </a:solidFill>
                <a:latin typeface="DM Sans"/>
                <a:ea typeface="DM Sans"/>
                <a:cs typeface="DM Sans"/>
                <a:sym typeface="DM Sans"/>
              </a:rPr>
              <a:t> Data spread across AMFI, mfapi.in, and NSE in multiple formats (TXT, PDF, HTML).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14400" y="4686300"/>
            <a:ext cx="46482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D312A"/>
                </a:solidFill>
                <a:latin typeface="DM Sans"/>
                <a:ea typeface="DM Sans"/>
                <a:cs typeface="DM Sans"/>
                <a:sym typeface="DM Sans"/>
              </a:rPr>
              <a:t>Analytics Gap:</a:t>
            </a:r>
            <a:r>
              <a:rPr b="0" i="0" lang="en-US" sz="1350" u="none" cap="none" strike="noStrike">
                <a:solidFill>
                  <a:srgbClr val="3D312A"/>
                </a:solidFill>
                <a:latin typeface="DM Sans"/>
                <a:ea typeface="DM Sans"/>
                <a:cs typeface="DM Sans"/>
                <a:sym typeface="DM Sans"/>
              </a:rPr>
              <a:t> Investors lack risk-adjusted metrics like Sharpe, Alpha, and Beta for fund comparison.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14400" y="5314950"/>
            <a:ext cx="46482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D312A"/>
                </a:solidFill>
                <a:latin typeface="DM Sans"/>
                <a:ea typeface="DM Sans"/>
                <a:cs typeface="DM Sans"/>
                <a:sym typeface="DM Sans"/>
              </a:rPr>
              <a:t>Static Reporting:</a:t>
            </a:r>
            <a:r>
              <a:rPr b="0" i="0" lang="en-US" sz="1350" u="none" cap="none" strike="noStrike">
                <a:solidFill>
                  <a:srgbClr val="3D312A"/>
                </a:solidFill>
                <a:latin typeface="DM Sans"/>
                <a:ea typeface="DM Sans"/>
                <a:cs typeface="DM Sans"/>
                <a:sym typeface="DM Sans"/>
              </a:rPr>
              <a:t> Reliance on PDF reports rather than real-time interactive insights.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629400" y="3552825"/>
            <a:ext cx="488061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781F"/>
                </a:solidFill>
                <a:latin typeface="Outfit"/>
                <a:ea typeface="Outfit"/>
                <a:cs typeface="Outfit"/>
                <a:sym typeface="Outfit"/>
              </a:rPr>
              <a:t>The Solution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629400" y="4057650"/>
            <a:ext cx="46482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D312A"/>
                </a:solidFill>
                <a:latin typeface="DM Sans"/>
                <a:ea typeface="DM Sans"/>
                <a:cs typeface="DM Sans"/>
                <a:sym typeface="DM Sans"/>
              </a:rPr>
              <a:t>Automation:</a:t>
            </a:r>
            <a:r>
              <a:rPr b="0" i="0" lang="en-US" sz="1350" u="none" cap="none" strike="noStrike">
                <a:solidFill>
                  <a:srgbClr val="3D312A"/>
                </a:solidFill>
                <a:latin typeface="DM Sans"/>
                <a:ea typeface="DM Sans"/>
                <a:cs typeface="DM Sans"/>
                <a:sym typeface="DM Sans"/>
              </a:rPr>
              <a:t> Python ETL automated ingestion of 10 primary datasets.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629400" y="4686300"/>
            <a:ext cx="46482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D312A"/>
                </a:solidFill>
                <a:latin typeface="DM Sans"/>
                <a:ea typeface="DM Sans"/>
                <a:cs typeface="DM Sans"/>
                <a:sym typeface="DM Sans"/>
              </a:rPr>
              <a:t>Centralization:</a:t>
            </a:r>
            <a:r>
              <a:rPr b="0" i="0" lang="en-US" sz="1350" u="none" cap="none" strike="noStrike">
                <a:solidFill>
                  <a:srgbClr val="3D312A"/>
                </a:solidFill>
                <a:latin typeface="DM Sans"/>
                <a:ea typeface="DM Sans"/>
                <a:cs typeface="DM Sans"/>
                <a:sym typeface="DM Sans"/>
              </a:rPr>
              <a:t> Standardized multi-source analytics normalized into a 5-table schema.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629400" y="5314950"/>
            <a:ext cx="46482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D312A"/>
                </a:solidFill>
                <a:latin typeface="DM Sans"/>
                <a:ea typeface="DM Sans"/>
                <a:cs typeface="DM Sans"/>
                <a:sym typeface="DM Sans"/>
              </a:rPr>
              <a:t>Interaction:</a:t>
            </a:r>
            <a:r>
              <a:rPr b="0" i="0" lang="en-US" sz="1350" u="none" cap="none" strike="noStrike">
                <a:solidFill>
                  <a:srgbClr val="3D312A"/>
                </a:solidFill>
                <a:latin typeface="DM Sans"/>
                <a:ea typeface="DM Sans"/>
                <a:cs typeface="DM Sans"/>
                <a:sym typeface="DM Sans"/>
              </a:rPr>
              <a:t> Power BI delivery for live risk tracking and strategic decisions.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762000" y="2466975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2D1606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Problem &amp; Project Objective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71500" y="2466975"/>
            <a:ext cx="57150" cy="457200"/>
          </a:xfrm>
          <a:prstGeom prst="rect">
            <a:avLst/>
          </a:prstGeom>
          <a:solidFill>
            <a:srgbClr val="FF78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9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71500"/>
            <a:ext cx="11049000" cy="16859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4" name="Google Shape;114;p15"/>
          <p:cNvGraphicFramePr/>
          <p:nvPr/>
        </p:nvGraphicFramePr>
        <p:xfrm>
          <a:off x="571500" y="30003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{2EB4C8B4-150B-4DE0-B70B-A4957603A9CC}</a:tableStyleId>
              </a:tblPr>
              <a:tblGrid>
                <a:gridCol w="2889800"/>
                <a:gridCol w="2314275"/>
                <a:gridCol w="2054425"/>
                <a:gridCol w="3780975"/>
              </a:tblGrid>
              <a:tr h="54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2D1606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Dataset Reference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2D1606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Source Entity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2D1606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Record Density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2D1606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Primary Insight Dimension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DD5"/>
                    </a:solidFill>
                  </a:tcPr>
                </a:tc>
              </a:tr>
              <a:tr h="54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D31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01_fund_master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C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D31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AMFI India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C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D31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40 Rows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C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D31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Category, Risk Profile, Expense Ratio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CF9"/>
                    </a:solidFill>
                  </a:tcPr>
                </a:tc>
              </a:tr>
              <a:tr h="54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D31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02_nav_history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C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D31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mfapi.in REST API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C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D31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~46,000 Rows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C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D31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Daily NAV Sequence (2022-2026)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CF9"/>
                    </a:solidFill>
                  </a:tcPr>
                </a:tc>
              </a:tr>
              <a:tr h="54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D31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04_monthly_sip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C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D31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AMFI Monthly Notes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C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D31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48 Rows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C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D31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Active Accounts, Regional Split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CF9"/>
                    </a:solidFill>
                  </a:tcPr>
                </a:tc>
              </a:tr>
              <a:tr h="54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D31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08_investor_transactions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C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D31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Simulated Ledger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C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D31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~32,000 Rows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C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D31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Geo/Demographic Flows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CF9"/>
                    </a:solidFill>
                  </a:tcPr>
                </a:tc>
              </a:tr>
              <a:tr h="54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D31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10_benchmark_indices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C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D31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NSE/BSE Public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C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D31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~8,000 Rows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C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D31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Nifty 50, Nifty 100, SmallCap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CF9"/>
                    </a:solidFill>
                  </a:tcPr>
                </a:tc>
              </a:tr>
            </a:tbl>
          </a:graphicData>
        </a:graphic>
      </p:graphicFrame>
      <p:sp>
        <p:nvSpPr>
          <p:cNvPr id="115" name="Google Shape;115;p15"/>
          <p:cNvSpPr/>
          <p:nvPr/>
        </p:nvSpPr>
        <p:spPr>
          <a:xfrm>
            <a:off x="576262" y="4100512"/>
            <a:ext cx="2889795" cy="9525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3466058" y="4100512"/>
            <a:ext cx="2314277" cy="9525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5780335" y="4100512"/>
            <a:ext cx="2054423" cy="9525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7834758" y="4100512"/>
            <a:ext cx="3780978" cy="9525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576262" y="4643437"/>
            <a:ext cx="2889795" cy="9525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3466058" y="4643437"/>
            <a:ext cx="2314277" cy="9525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5780335" y="4643437"/>
            <a:ext cx="2054423" cy="9525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7834758" y="4643437"/>
            <a:ext cx="3780978" cy="9525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576262" y="5186362"/>
            <a:ext cx="2889795" cy="9525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3466058" y="5186362"/>
            <a:ext cx="2314277" cy="9525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5780335" y="5186362"/>
            <a:ext cx="2054423" cy="9525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7834758" y="5186362"/>
            <a:ext cx="3780978" cy="9525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576262" y="5729287"/>
            <a:ext cx="2889795" cy="9525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3466058" y="5729287"/>
            <a:ext cx="2314277" cy="9525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5780335" y="5729287"/>
            <a:ext cx="2054423" cy="9525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7834758" y="5729287"/>
            <a:ext cx="3780978" cy="9525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762000" y="2257425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2D1606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Data Sources &amp; Datasets</a:t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571500" y="2257425"/>
            <a:ext cx="57150" cy="457200"/>
          </a:xfrm>
          <a:prstGeom prst="rect">
            <a:avLst/>
          </a:prstGeom>
          <a:solidFill>
            <a:srgbClr val="FF78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9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667000"/>
            <a:ext cx="53340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71500"/>
            <a:ext cx="11049000" cy="1352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904875" y="2667000"/>
            <a:ext cx="50006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D1606"/>
                </a:solidFill>
                <a:latin typeface="DM Sans"/>
                <a:ea typeface="DM Sans"/>
                <a:cs typeface="DM Sans"/>
                <a:sym typeface="DM Sans"/>
              </a:rPr>
              <a:t>Extraction (Layer 1):</a:t>
            </a:r>
            <a:r>
              <a:rPr b="0" i="0" lang="en-US" sz="1350" u="none" cap="none" strike="noStrike">
                <a:solidFill>
                  <a:srgbClr val="3D312A"/>
                </a:solidFill>
                <a:latin typeface="DM Sans"/>
                <a:ea typeface="DM Sans"/>
                <a:cs typeface="DM Sans"/>
                <a:sym typeface="DM Sans"/>
              </a:rPr>
              <a:t> Python scripts fetch Daily NAV via mfapi.in API and AMFI historical CSVs.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904875" y="3352800"/>
            <a:ext cx="50006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D1606"/>
                </a:solidFill>
                <a:latin typeface="DM Sans"/>
                <a:ea typeface="DM Sans"/>
                <a:cs typeface="DM Sans"/>
                <a:sym typeface="DM Sans"/>
              </a:rPr>
              <a:t>Transformation (Layer 2):</a:t>
            </a:r>
            <a:r>
              <a:rPr b="0" i="0" lang="en-US" sz="1350" u="none" cap="none" strike="noStrike">
                <a:solidFill>
                  <a:srgbClr val="3D312A"/>
                </a:solidFill>
                <a:latin typeface="DM Sans"/>
                <a:ea typeface="DM Sans"/>
                <a:cs typeface="DM Sans"/>
                <a:sym typeface="DM Sans"/>
              </a:rPr>
              <a:t> Pandas normalizes names, calculates daily returns, and forward-fills holidays.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904875" y="4038600"/>
            <a:ext cx="50006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D1606"/>
                </a:solidFill>
                <a:latin typeface="DM Sans"/>
                <a:ea typeface="DM Sans"/>
                <a:cs typeface="DM Sans"/>
                <a:sym typeface="DM Sans"/>
              </a:rPr>
              <a:t>Storage (Layer 3):</a:t>
            </a:r>
            <a:r>
              <a:rPr b="0" i="0" lang="en-US" sz="1350" u="none" cap="none" strike="noStrike">
                <a:solidFill>
                  <a:srgbClr val="3D312A"/>
                </a:solidFill>
                <a:latin typeface="DM Sans"/>
                <a:ea typeface="DM Sans"/>
                <a:cs typeface="DM Sans"/>
                <a:sym typeface="DM Sans"/>
              </a:rPr>
              <a:t> Loaded into localized SQLite schema (dim_fund, dim_date, fact_nav).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904875" y="4724400"/>
            <a:ext cx="50006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D1606"/>
                </a:solidFill>
                <a:latin typeface="DM Sans"/>
                <a:ea typeface="DM Sans"/>
                <a:cs typeface="DM Sans"/>
                <a:sym typeface="DM Sans"/>
              </a:rPr>
              <a:t>Analytics &amp; BI (Layer 4):</a:t>
            </a:r>
            <a:r>
              <a:rPr b="0" i="0" lang="en-US" sz="1350" u="none" cap="none" strike="noStrike">
                <a:solidFill>
                  <a:srgbClr val="3D312A"/>
                </a:solidFill>
                <a:latin typeface="DM Sans"/>
                <a:ea typeface="DM Sans"/>
                <a:cs typeface="DM Sans"/>
                <a:sym typeface="DM Sans"/>
              </a:rPr>
              <a:t> Real-time BI connection for executive-level dashboard reporting.</a:t>
            </a:r>
            <a:endParaRPr/>
          </a:p>
        </p:txBody>
      </p:sp>
      <p:pic>
        <p:nvPicPr>
          <p:cNvPr descr="image.png" id="144" name="Google Shape;14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15075" y="2695575"/>
            <a:ext cx="5276850" cy="3562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690812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376612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40624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" y="4748212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762000" y="192405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2D1606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System Architecture &amp; ETL</a:t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571500" y="1924050"/>
            <a:ext cx="57150" cy="457200"/>
          </a:xfrm>
          <a:prstGeom prst="rect">
            <a:avLst/>
          </a:prstGeom>
          <a:solidFill>
            <a:srgbClr val="FF78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9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71500"/>
            <a:ext cx="11049000" cy="7392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053679"/>
            <a:ext cx="11049000" cy="423282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1123950" y="5657850"/>
            <a:ext cx="99441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3D312A"/>
                </a:solidFill>
                <a:latin typeface="DM Sans"/>
                <a:ea typeface="DM Sans"/>
                <a:cs typeface="DM Sans"/>
                <a:sym typeface="DM Sans"/>
              </a:rPr>
              <a:t>Unified performance overview of 40 active fund schemes spanning 4.5 operational years, validating solid historical market resilience and steady CAGR trends.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762000" y="1310729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2D1606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EDA: Historical NAV Trends</a:t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571500" y="1310729"/>
            <a:ext cx="57150" cy="457200"/>
          </a:xfrm>
          <a:prstGeom prst="rect">
            <a:avLst/>
          </a:prstGeom>
          <a:solidFill>
            <a:srgbClr val="FF78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9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5" name="Google Shape;16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71500"/>
            <a:ext cx="11049000" cy="1152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466975"/>
            <a:ext cx="11049000" cy="381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1123950" y="5657850"/>
            <a:ext cx="99441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3D312A"/>
                </a:solidFill>
                <a:latin typeface="DM Sans"/>
                <a:ea typeface="DM Sans"/>
                <a:cs typeface="DM Sans"/>
                <a:sym typeface="DM Sans"/>
              </a:rPr>
              <a:t>Geographic concentration reveals T30 retains dominant AUM share, though B30 regions depict a faster relative growth trajectory during the 2024-2025 period.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762000" y="1724025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2D1606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Market Proportions: Inflows</a:t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571500" y="1724025"/>
            <a:ext cx="57150" cy="457200"/>
          </a:xfrm>
          <a:prstGeom prst="rect">
            <a:avLst/>
          </a:prstGeom>
          <a:solidFill>
            <a:srgbClr val="FF78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9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71500"/>
            <a:ext cx="11049000" cy="2371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86175"/>
            <a:ext cx="11049000" cy="2600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1123950" y="5657850"/>
            <a:ext cx="99441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3D312A"/>
                </a:solidFill>
                <a:latin typeface="DM Sans"/>
                <a:ea typeface="DM Sans"/>
                <a:cs typeface="DM Sans"/>
                <a:sym typeface="DM Sans"/>
              </a:rPr>
              <a:t>Calculated returns against a simulated risk-free rate of 6.50% (RBI Repo rate proxy), validating robust risk-adjusted returns across major schemes.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762000" y="2943225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2D1606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Risk-Return Metrics Comparison</a:t>
            </a:r>
            <a:endParaRPr/>
          </a:p>
        </p:txBody>
      </p:sp>
      <p:sp>
        <p:nvSpPr>
          <p:cNvPr id="180" name="Google Shape;180;p19"/>
          <p:cNvSpPr/>
          <p:nvPr/>
        </p:nvSpPr>
        <p:spPr>
          <a:xfrm>
            <a:off x="571500" y="2943225"/>
            <a:ext cx="57150" cy="457200"/>
          </a:xfrm>
          <a:prstGeom prst="rect">
            <a:avLst/>
          </a:prstGeom>
          <a:solidFill>
            <a:srgbClr val="FF78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9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71500"/>
            <a:ext cx="11049000" cy="27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571500" y="4029075"/>
            <a:ext cx="53340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0" u="none" cap="none" strike="noStrike">
                <a:solidFill>
                  <a:srgbClr val="FF781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81L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571500" y="5076825"/>
            <a:ext cx="5334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D1606"/>
                </a:solidFill>
                <a:latin typeface="DM Sans"/>
                <a:ea typeface="DM Sans"/>
                <a:cs typeface="DM Sans"/>
                <a:sym typeface="DM Sans"/>
              </a:rPr>
              <a:t>CRORE INDUSTRY AUM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6286500" y="4029075"/>
            <a:ext cx="5600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D1606"/>
                </a:solidFill>
                <a:latin typeface="Outfit"/>
                <a:ea typeface="Outfit"/>
                <a:cs typeface="Outfit"/>
                <a:sym typeface="Outfit"/>
              </a:rPr>
              <a:t>Significant Milestone Reached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6286500" y="4257675"/>
            <a:ext cx="53340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D312A"/>
                </a:solidFill>
                <a:latin typeface="DM Sans"/>
                <a:ea typeface="DM Sans"/>
                <a:cs typeface="DM Sans"/>
                <a:sym typeface="DM Sans"/>
              </a:rPr>
              <a:t>The total Assets Under Management reached historic proportions in December 2025, driven by unprecedented retail investor participation. The digital-first onboarding pipelines implemented across leading AMCs have triggered a democratization of systematic equity investments.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6286500" y="5657850"/>
            <a:ext cx="5334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D312A"/>
                </a:solidFill>
                <a:latin typeface="DM Sans"/>
                <a:ea typeface="DM Sans"/>
                <a:cs typeface="DM Sans"/>
                <a:sym typeface="DM Sans"/>
              </a:rPr>
              <a:t>Active systematic investment accounts expanded to an impressive </a:t>
            </a:r>
            <a:r>
              <a:rPr b="1" i="0" lang="en-US" sz="1350" u="none" cap="none" strike="noStrike">
                <a:solidFill>
                  <a:srgbClr val="3D312A"/>
                </a:solidFill>
                <a:latin typeface="DM Sans"/>
                <a:ea typeface="DM Sans"/>
                <a:cs typeface="DM Sans"/>
                <a:sym typeface="DM Sans"/>
              </a:rPr>
              <a:t>9.35 Crore folios</a:t>
            </a:r>
            <a:r>
              <a:rPr b="0" i="0" lang="en-US" sz="1350" u="none" cap="none" strike="noStrike">
                <a:solidFill>
                  <a:srgbClr val="3D312A"/>
                </a:solidFill>
                <a:latin typeface="DM Sans"/>
                <a:ea typeface="DM Sans"/>
                <a:cs typeface="DM Sans"/>
                <a:sym typeface="DM Sans"/>
              </a:rPr>
              <a:t> during the Q4 period.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762000" y="3286125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2D1606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Market Inflows &amp; Scale</a:t>
            </a:r>
            <a:endParaRPr/>
          </a:p>
        </p:txBody>
      </p:sp>
      <p:sp>
        <p:nvSpPr>
          <p:cNvPr id="193" name="Google Shape;193;p20"/>
          <p:cNvSpPr/>
          <p:nvPr/>
        </p:nvSpPr>
        <p:spPr>
          <a:xfrm>
            <a:off x="571500" y="3286125"/>
            <a:ext cx="57150" cy="457200"/>
          </a:xfrm>
          <a:prstGeom prst="rect">
            <a:avLst/>
          </a:prstGeom>
          <a:solidFill>
            <a:srgbClr val="FF78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9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/>
        </p:nvSpPr>
        <p:spPr>
          <a:xfrm>
            <a:off x="571500" y="571500"/>
            <a:ext cx="560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2D1606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Industry Overview Dashboard</a:t>
            </a:r>
            <a:endParaRPr/>
          </a:p>
        </p:txBody>
      </p:sp>
      <p:pic>
        <p:nvPicPr>
          <p:cNvPr descr="image.png" id="200" name="Google Shape;20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028700"/>
            <a:ext cx="59055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571500" y="1314450"/>
            <a:ext cx="5600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D1606"/>
                </a:solidFill>
                <a:latin typeface="Outfit"/>
                <a:ea typeface="Outfit"/>
                <a:cs typeface="Outfit"/>
                <a:sym typeface="Outfit"/>
              </a:rPr>
              <a:t>Executive Summary Slices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571500" y="1543050"/>
            <a:ext cx="5334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D312A"/>
                </a:solidFill>
                <a:latin typeface="DM Sans"/>
                <a:ea typeface="DM Sans"/>
                <a:cs typeface="DM Sans"/>
                <a:sym typeface="DM Sans"/>
              </a:rPr>
              <a:t>Designed with intuitive filter controls allowing managers to slice portfolio insights across fund houses, scheme classes, and asset categories.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571500" y="2428875"/>
            <a:ext cx="5334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D312A"/>
                </a:solidFill>
                <a:latin typeface="DM Sans"/>
                <a:ea typeface="DM Sans"/>
                <a:cs typeface="DM Sans"/>
                <a:sym typeface="DM Sans"/>
              </a:rPr>
              <a:t>Key indicators stream live AUM totals, SIP inflow trajectories, and demographic classifications with zero latency directly from SQL views.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9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81225"/>
            <a:ext cx="53340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71500"/>
            <a:ext cx="11049000" cy="8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 txBox="1"/>
          <p:nvPr/>
        </p:nvSpPr>
        <p:spPr>
          <a:xfrm>
            <a:off x="571500" y="5915025"/>
            <a:ext cx="5334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D1606"/>
                </a:solidFill>
                <a:latin typeface="DM Sans"/>
                <a:ea typeface="DM Sans"/>
                <a:cs typeface="DM Sans"/>
                <a:sym typeface="DM Sans"/>
              </a:rPr>
              <a:t>Risk-Return Distribution Analysis</a:t>
            </a:r>
            <a:endParaRPr/>
          </a:p>
        </p:txBody>
      </p:sp>
      <p:pic>
        <p:nvPicPr>
          <p:cNvPr descr="image.png" id="212" name="Google Shape;212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0075" y="2209800"/>
            <a:ext cx="5276850" cy="3562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/>
        </p:nvSpPr>
        <p:spPr>
          <a:xfrm>
            <a:off x="6286500" y="2181225"/>
            <a:ext cx="5600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D1606"/>
                </a:solidFill>
                <a:latin typeface="Outfit"/>
                <a:ea typeface="Outfit"/>
                <a:cs typeface="Outfit"/>
                <a:sym typeface="Outfit"/>
              </a:rPr>
              <a:t>Investor Behaviours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6619875" y="2409825"/>
            <a:ext cx="50006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D1606"/>
                </a:solidFill>
                <a:latin typeface="DM Sans"/>
                <a:ea typeface="DM Sans"/>
                <a:cs typeface="DM Sans"/>
                <a:sym typeface="DM Sans"/>
              </a:rPr>
              <a:t>Age Bracket Activity:</a:t>
            </a:r>
            <a:r>
              <a:rPr b="0" i="0" lang="en-US" sz="1350" u="none" cap="none" strike="noStrike">
                <a:solidFill>
                  <a:srgbClr val="3D312A"/>
                </a:solidFill>
                <a:latin typeface="DM Sans"/>
                <a:ea typeface="DM Sans"/>
                <a:cs typeface="DM Sans"/>
                <a:sym typeface="DM Sans"/>
              </a:rPr>
              <a:t> The 26-35 age bracket remains the most prominent demographic registering for systematic SIP products.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6619875" y="3352800"/>
            <a:ext cx="50006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D1606"/>
                </a:solidFill>
                <a:latin typeface="DM Sans"/>
                <a:ea typeface="DM Sans"/>
                <a:cs typeface="DM Sans"/>
                <a:sym typeface="DM Sans"/>
              </a:rPr>
              <a:t>Payment Channel:</a:t>
            </a:r>
            <a:r>
              <a:rPr b="0" i="0" lang="en-US" sz="1350" u="none" cap="none" strike="noStrike">
                <a:solidFill>
                  <a:srgbClr val="3D312A"/>
                </a:solidFill>
                <a:latin typeface="DM Sans"/>
                <a:ea typeface="DM Sans"/>
                <a:cs typeface="DM Sans"/>
                <a:sym typeface="DM Sans"/>
              </a:rPr>
              <a:t> Dynamic UPI Mandate registrations accounted for 82% of newly recorded active accounts.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6619875" y="4038600"/>
            <a:ext cx="50006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D1606"/>
                </a:solidFill>
                <a:latin typeface="DM Sans"/>
                <a:ea typeface="DM Sans"/>
                <a:cs typeface="DM Sans"/>
                <a:sym typeface="DM Sans"/>
              </a:rPr>
              <a:t>Geographic Expansion:</a:t>
            </a:r>
            <a:r>
              <a:rPr b="0" i="0" lang="en-US" sz="1350" u="none" cap="none" strike="noStrike">
                <a:solidFill>
                  <a:srgbClr val="3D312A"/>
                </a:solidFill>
                <a:latin typeface="DM Sans"/>
                <a:ea typeface="DM Sans"/>
                <a:cs typeface="DM Sans"/>
                <a:sym typeface="DM Sans"/>
              </a:rPr>
              <a:t> Regional distribution heatmap exhibits strong emergence of Tier-2 and beyond market shares.</a:t>
            </a:r>
            <a:endParaRPr/>
          </a:p>
        </p:txBody>
      </p:sp>
      <p:pic>
        <p:nvPicPr>
          <p:cNvPr descr="image.png" id="217" name="Google Shape;217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2433637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86500" y="3376612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86500" y="4062412"/>
            <a:ext cx="1428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 txBox="1"/>
          <p:nvPr/>
        </p:nvSpPr>
        <p:spPr>
          <a:xfrm>
            <a:off x="762000" y="1438275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2D1606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Demographics &amp; Interactive Flows</a:t>
            </a:r>
            <a:endParaRPr/>
          </a:p>
        </p:txBody>
      </p:sp>
      <p:sp>
        <p:nvSpPr>
          <p:cNvPr id="221" name="Google Shape;221;p22"/>
          <p:cNvSpPr/>
          <p:nvPr/>
        </p:nvSpPr>
        <p:spPr>
          <a:xfrm>
            <a:off x="571500" y="1438275"/>
            <a:ext cx="57150" cy="457200"/>
          </a:xfrm>
          <a:prstGeom prst="rect">
            <a:avLst/>
          </a:prstGeom>
          <a:solidFill>
            <a:srgbClr val="FF78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9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6" name="Google Shape;22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71500"/>
            <a:ext cx="11049000" cy="22288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 txBox="1"/>
          <p:nvPr/>
        </p:nvSpPr>
        <p:spPr>
          <a:xfrm>
            <a:off x="1857375" y="3543300"/>
            <a:ext cx="88106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D1606"/>
                </a:solidFill>
                <a:latin typeface="DM Sans"/>
                <a:ea typeface="DM Sans"/>
                <a:cs typeface="DM Sans"/>
                <a:sym typeface="DM Sans"/>
              </a:rPr>
              <a:t>Market Concentration:</a:t>
            </a:r>
            <a:r>
              <a:rPr b="0" i="0" lang="en-US" sz="1350" u="none" cap="none" strike="noStrike">
                <a:solidFill>
                  <a:srgbClr val="3D312A"/>
                </a:solidFill>
                <a:latin typeface="DM Sans"/>
                <a:ea typeface="DM Sans"/>
                <a:cs typeface="DM Sans"/>
                <a:sym typeface="DM Sans"/>
              </a:rPr>
              <a:t> Top-3 AMCs (SBI, ICICI Prudential, and HDFC) actively command over 40% of standard industry equity AUM.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1857375" y="4229100"/>
            <a:ext cx="88106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D1606"/>
                </a:solidFill>
                <a:latin typeface="DM Sans"/>
                <a:ea typeface="DM Sans"/>
                <a:cs typeface="DM Sans"/>
                <a:sym typeface="DM Sans"/>
              </a:rPr>
              <a:t>SIP Performance:</a:t>
            </a:r>
            <a:r>
              <a:rPr b="0" i="0" lang="en-US" sz="1350" u="none" cap="none" strike="noStrike">
                <a:solidFill>
                  <a:srgbClr val="3D312A"/>
                </a:solidFill>
                <a:latin typeface="DM Sans"/>
                <a:ea typeface="DM Sans"/>
                <a:cs typeface="DM Sans"/>
                <a:sym typeface="DM Sans"/>
              </a:rPr>
              <a:t> Continuous monthly inflows exhibit highly inelastic characteristics relative to major short-term benchmark corrections.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1857375" y="4914900"/>
            <a:ext cx="88106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D1606"/>
                </a:solidFill>
                <a:latin typeface="DM Sans"/>
                <a:ea typeface="DM Sans"/>
                <a:cs typeface="DM Sans"/>
                <a:sym typeface="DM Sans"/>
              </a:rPr>
              <a:t>Alpha Creation:</a:t>
            </a:r>
            <a:r>
              <a:rPr b="0" i="0" lang="en-US" sz="1350" u="none" cap="none" strike="noStrike">
                <a:solidFill>
                  <a:srgbClr val="3D312A"/>
                </a:solidFill>
                <a:latin typeface="DM Sans"/>
                <a:ea typeface="DM Sans"/>
                <a:cs typeface="DM Sans"/>
                <a:sym typeface="DM Sans"/>
              </a:rPr>
              <a:t> Active Large-Cap schemes outperformed Nifty index benchmarks by an average alpha range of 2.1% to 4.5%.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1857375" y="5600700"/>
            <a:ext cx="88106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D1606"/>
                </a:solidFill>
                <a:latin typeface="DM Sans"/>
                <a:ea typeface="DM Sans"/>
                <a:cs typeface="DM Sans"/>
                <a:sym typeface="DM Sans"/>
              </a:rPr>
              <a:t>Retention Trajectory:</a:t>
            </a:r>
            <a:r>
              <a:rPr b="0" i="0" lang="en-US" sz="1350" u="none" cap="none" strike="noStrike">
                <a:solidFill>
                  <a:srgbClr val="3D312A"/>
                </a:solidFill>
                <a:latin typeface="DM Sans"/>
                <a:ea typeface="DM Sans"/>
                <a:cs typeface="DM Sans"/>
                <a:sym typeface="DM Sans"/>
              </a:rPr>
              <a:t> Systematic portfolios targeting direct plans recorded a 14% higher average tenure compared to regular mutual fund products.</a:t>
            </a:r>
            <a:endParaRPr/>
          </a:p>
        </p:txBody>
      </p:sp>
      <p:pic>
        <p:nvPicPr>
          <p:cNvPr descr="image.png" id="232" name="Google Shape;23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4000" y="3567112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24000" y="4252912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24000" y="49387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24000" y="5624512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3"/>
          <p:cNvSpPr txBox="1"/>
          <p:nvPr/>
        </p:nvSpPr>
        <p:spPr>
          <a:xfrm>
            <a:off x="762000" y="280035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2D1606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Key Findings &amp; Analytics Insights</a:t>
            </a:r>
            <a:endParaRPr/>
          </a:p>
        </p:txBody>
      </p:sp>
      <p:sp>
        <p:nvSpPr>
          <p:cNvPr id="237" name="Google Shape;237;p23"/>
          <p:cNvSpPr/>
          <p:nvPr/>
        </p:nvSpPr>
        <p:spPr>
          <a:xfrm>
            <a:off x="571500" y="2800350"/>
            <a:ext cx="57150" cy="457200"/>
          </a:xfrm>
          <a:prstGeom prst="rect">
            <a:avLst/>
          </a:prstGeom>
          <a:solidFill>
            <a:srgbClr val="FF78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9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2" name="Google Shape;24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71500"/>
            <a:ext cx="11049000" cy="263842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4"/>
          <p:cNvSpPr txBox="1"/>
          <p:nvPr/>
        </p:nvSpPr>
        <p:spPr>
          <a:xfrm>
            <a:off x="295275" y="3209925"/>
            <a:ext cx="11601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2D1606"/>
                </a:solidFill>
                <a:latin typeface="Outfit"/>
                <a:ea typeface="Outfit"/>
                <a:cs typeface="Outfit"/>
                <a:sym typeface="Outfit"/>
              </a:rPr>
              <a:t>Thank You</a:t>
            </a:r>
            <a:endParaRPr/>
          </a:p>
        </p:txBody>
      </p:sp>
      <p:sp>
        <p:nvSpPr>
          <p:cNvPr id="245" name="Google Shape;245;p24"/>
          <p:cNvSpPr txBox="1"/>
          <p:nvPr/>
        </p:nvSpPr>
        <p:spPr>
          <a:xfrm>
            <a:off x="571500" y="4267200"/>
            <a:ext cx="11049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70625A"/>
                </a:solidFill>
                <a:latin typeface="DM Sans"/>
                <a:ea typeface="DM Sans"/>
                <a:cs typeface="DM Sans"/>
                <a:sym typeface="DM Sans"/>
              </a:rPr>
              <a:t>                                                                   </a:t>
            </a:r>
            <a:endParaRPr/>
          </a:p>
        </p:txBody>
      </p:sp>
      <p:sp>
        <p:nvSpPr>
          <p:cNvPr id="246" name="Google Shape;246;p24"/>
          <p:cNvSpPr txBox="1"/>
          <p:nvPr/>
        </p:nvSpPr>
        <p:spPr>
          <a:xfrm>
            <a:off x="571500" y="4962525"/>
            <a:ext cx="11049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571500" y="4707038"/>
            <a:ext cx="110490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70625A"/>
                </a:solidFill>
                <a:latin typeface="DM Sans"/>
                <a:ea typeface="DM Sans"/>
                <a:cs typeface="DM Sans"/>
                <a:sym typeface="DM Sans"/>
              </a:rPr>
              <a:t>    vasalashivani9@gmail.com</a:t>
            </a:r>
            <a:endParaRPr b="1" sz="1600">
              <a:solidFill>
                <a:srgbClr val="70625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50">
              <a:solidFill>
                <a:srgbClr val="70625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8" name="Google Shape;248;p24"/>
          <p:cNvSpPr txBox="1"/>
          <p:nvPr/>
        </p:nvSpPr>
        <p:spPr>
          <a:xfrm>
            <a:off x="737500" y="5223913"/>
            <a:ext cx="11049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70625A"/>
                </a:solidFill>
                <a:latin typeface="DM Sans"/>
                <a:ea typeface="DM Sans"/>
                <a:cs typeface="DM Sans"/>
                <a:sym typeface="DM Sans"/>
              </a:rPr>
              <a:t>https://github.com/VasalaShivani</a:t>
            </a:r>
            <a:endParaRPr sz="1800"/>
          </a:p>
        </p:txBody>
      </p:sp>
      <p:pic>
        <p:nvPicPr>
          <p:cNvPr descr="image.png" id="249" name="Google Shape;24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95400" y="4752975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>
            <a:off x="4287646" y="5204905"/>
            <a:ext cx="284350" cy="28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